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6"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3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58" autoAdjust="0"/>
    <p:restoredTop sz="94660"/>
  </p:normalViewPr>
  <p:slideViewPr>
    <p:cSldViewPr snapToGrid="0" showGuides="1">
      <p:cViewPr>
        <p:scale>
          <a:sx n="88" d="100"/>
          <a:sy n="88" d="100"/>
        </p:scale>
        <p:origin x="2200" y="208"/>
      </p:cViewPr>
      <p:guideLst>
        <p:guide orient="horz" pos="3126"/>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dirty="0"/>
              <a:t>Click to edit Master title style</a:t>
            </a:r>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Master subtitle style</a:t>
            </a:r>
          </a:p>
        </p:txBody>
      </p:sp>
      <p:sp>
        <p:nvSpPr>
          <p:cNvPr id="4" name="Date Placeholder 3"/>
          <p:cNvSpPr>
            <a:spLocks noGrp="1"/>
          </p:cNvSpPr>
          <p:nvPr>
            <p:ph type="dt" sz="half" idx="10"/>
          </p:nvPr>
        </p:nvSpPr>
        <p:spPr/>
        <p:txBody>
          <a:bodyPr/>
          <a:lstStyle/>
          <a:p>
            <a:fld id="{E95511AC-980B-485A-851E-DBD0B8F4CBAD}"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dirty="0"/>
              <a:t>Click to edit Master title style</a:t>
            </a:r>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E95511AC-980B-485A-851E-DBD0B8F4CBAD}"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471488"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3471863" y="2637014"/>
            <a:ext cx="2914650" cy="628526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E95511AC-980B-485A-851E-DBD0B8F4CBAD}"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dirty="0"/>
              <a:t>Click to edit Master title style</a:t>
            </a:r>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E95511AC-980B-485A-851E-DBD0B8F4CBAD}" type="datetimeFigureOut">
              <a:rPr lang="en-US" smtClean="0"/>
              <a:t>6/4/26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E95511AC-980B-485A-851E-DBD0B8F4CBAD}" type="datetimeFigureOut">
              <a:rPr lang="en-US" smtClean="0"/>
              <a:t>6/4/26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5511AC-980B-485A-851E-DBD0B8F4CBAD}" type="datetimeFigureOut">
              <a:rPr lang="en-US" smtClean="0"/>
              <a:t>6/4/26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dirty="0"/>
              <a:t>Click to edit Master title style</a:t>
            </a:r>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Click icon to add picture</a:t>
            </a:r>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dirty="0"/>
              <a:t>Click to edit Master text styles</a:t>
            </a:r>
          </a:p>
        </p:txBody>
      </p:sp>
      <p:sp>
        <p:nvSpPr>
          <p:cNvPr id="5" name="Date Placeholder 4"/>
          <p:cNvSpPr>
            <a:spLocks noGrp="1"/>
          </p:cNvSpPr>
          <p:nvPr>
            <p:ph type="dt" sz="half" idx="10"/>
          </p:nvPr>
        </p:nvSpPr>
        <p:spPr/>
        <p:txBody>
          <a:bodyPr/>
          <a:lstStyle/>
          <a:p>
            <a:fld id="{E95511AC-980B-485A-851E-DBD0B8F4CBAD}" type="datetimeFigureOut">
              <a:rPr lang="en-US" smtClean="0"/>
              <a:t>6/4/26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E95511AC-980B-485A-851E-DBD0B8F4CBAD}" type="datetimeFigureOut">
              <a:rPr lang="en-US" smtClean="0"/>
              <a:t>6/4/26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6A2BFA2-7CEB-4D76-9663-917F13DE4B1E}"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E95511AC-980B-485A-851E-DBD0B8F4CBAD}" type="datetimeFigureOut">
              <a:rPr lang="en-US" smtClean="0"/>
              <a:t>6/4/26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06A2BFA2-7CEB-4D76-9663-917F13DE4B1E}"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jp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oup 45"/>
          <p:cNvGrpSpPr/>
          <p:nvPr/>
        </p:nvGrpSpPr>
        <p:grpSpPr>
          <a:xfrm>
            <a:off x="6009740" y="1966271"/>
            <a:ext cx="683266" cy="212921"/>
            <a:chOff x="6071533" y="2181217"/>
            <a:chExt cx="683266" cy="215444"/>
          </a:xfrm>
        </p:grpSpPr>
        <p:sp>
          <p:nvSpPr>
            <p:cNvPr id="43" name="TextBox 42"/>
            <p:cNvSpPr txBox="1"/>
            <p:nvPr/>
          </p:nvSpPr>
          <p:spPr>
            <a:xfrm>
              <a:off x="6105590" y="2181217"/>
              <a:ext cx="649209" cy="215444"/>
            </a:xfrm>
            <a:prstGeom prst="rect">
              <a:avLst/>
            </a:prstGeom>
            <a:noFill/>
          </p:spPr>
          <p:txBody>
            <a:bodyPr wrap="square">
              <a:spAutoFit/>
            </a:bodyPr>
            <a:lstStyle/>
            <a:p>
              <a:pPr algn="ctr"/>
              <a:r>
                <a:rPr lang="en-US" sz="800" b="1" dirty="0" err="1">
                  <a:latin typeface="Arial Hebrew Scholar" pitchFamily="2" charset="-79"/>
                  <a:cs typeface="Arial Hebrew Scholar" pitchFamily="2" charset="-79"/>
                </a:rPr>
                <a:t>Github</a:t>
              </a:r>
              <a:endParaRPr lang="en-US" sz="800" b="1" dirty="0">
                <a:latin typeface="Arial Hebrew Scholar" pitchFamily="2" charset="-79"/>
                <a:cs typeface="Arial Hebrew Scholar" pitchFamily="2" charset="-79"/>
              </a:endParaRPr>
            </a:p>
          </p:txBody>
        </p:sp>
        <p:pic>
          <p:nvPicPr>
            <p:cNvPr id="1028" name="Picture 4" descr="Github Logo - Free social media icon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aphicFrame>
        <p:nvGraphicFramePr>
          <p:cNvPr id="36" name="Table 35"/>
          <p:cNvGraphicFramePr>
            <a:graphicFrameLocks noGrp="1"/>
          </p:cNvGraphicFramePr>
          <p:nvPr>
            <p:extLst>
              <p:ext uri="{D42A27DB-BD31-4B8C-83A1-F6EECF244321}">
                <p14:modId xmlns:p14="http://schemas.microsoft.com/office/powerpoint/2010/main" val="3210292132"/>
              </p:ext>
            </p:extLst>
          </p:nvPr>
        </p:nvGraphicFramePr>
        <p:xfrm>
          <a:off x="71979" y="2356347"/>
          <a:ext cx="3890420" cy="1250175"/>
        </p:xfrm>
        <a:graphic>
          <a:graphicData uri="http://schemas.openxmlformats.org/drawingml/2006/table">
            <a:tbl>
              <a:tblPr firstRow="1" bandRow="1">
                <a:tableStyleId>{5C22544A-7EE6-4342-B048-85BDC9FD1C3A}</a:tableStyleId>
              </a:tblPr>
              <a:tblGrid>
                <a:gridCol w="3890420">
                  <a:extLst>
                    <a:ext uri="{9D8B030D-6E8A-4147-A177-3AD203B41FA5}">
                      <a16:colId xmlns:a16="http://schemas.microsoft.com/office/drawing/2014/main" val="20000"/>
                    </a:ext>
                  </a:extLst>
                </a:gridCol>
              </a:tblGrid>
              <a:tr h="0">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dirty="0" err="1">
                          <a:solidFill>
                            <a:schemeClr val="bg1"/>
                          </a:solidFill>
                          <a:latin typeface="Times New Roman" panose="02020603050405020304" pitchFamily="18" charset="0"/>
                          <a:cs typeface="Times New Roman" panose="02020603050405020304" pitchFamily="18" charset="0"/>
                        </a:rPr>
                        <a:t>Giới</a:t>
                      </a:r>
                      <a:r>
                        <a:rPr lang="en-US" sz="1000" b="1" dirty="0">
                          <a:solidFill>
                            <a:schemeClr val="bg1"/>
                          </a:solidFill>
                          <a:latin typeface="Times New Roman" panose="02020603050405020304" pitchFamily="18" charset="0"/>
                          <a:cs typeface="Times New Roman" panose="02020603050405020304" pitchFamily="18" charset="0"/>
                        </a:rPr>
                        <a:t> </a:t>
                      </a:r>
                      <a:r>
                        <a:rPr lang="en-US" sz="1000" b="1" dirty="0" err="1">
                          <a:solidFill>
                            <a:schemeClr val="bg1"/>
                          </a:solidFill>
                          <a:latin typeface="Times New Roman" panose="02020603050405020304" pitchFamily="18" charset="0"/>
                          <a:cs typeface="Times New Roman" panose="02020603050405020304" pitchFamily="18" charset="0"/>
                        </a:rPr>
                        <a:t>thiệu</a:t>
                      </a:r>
                      <a:endParaRPr lang="en-US" sz="1000" b="1" dirty="0">
                        <a:solidFill>
                          <a:schemeClr val="bg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10000"/>
                  </a:ext>
                </a:extLst>
              </a:tr>
              <a:tr h="1006335">
                <a:tc>
                  <a:txBody>
                    <a:bodyPr/>
                    <a:lstStyle/>
                    <a:p>
                      <a:r>
                        <a:rPr lang="vi-VN" sz="1000" b="0" i="0" u="none" strike="noStrike" kern="1200" dirty="0">
                          <a:solidFill>
                            <a:schemeClr val="dk1"/>
                          </a:solidFill>
                          <a:effectLst/>
                          <a:latin typeface="+mn-lt"/>
                          <a:ea typeface="+mn-ea"/>
                          <a:cs typeface="+mn-cs"/>
                        </a:rPr>
                        <a:t>Hệ thống "Nhận diện hành vi bất thường sử dụng AI kết hợp Blockchain" tự động phát hiện các sự cố y tế/an ninh (chạy, ngã, đánh nhau) bằng công nghệ thị giác máy tính, đồng thời băm video và lưu trữ mã băm lên Blockchain. Giải pháp này giúp cảnh báo chủ động theo thời gian thực và đảm bảo video bằng chứng có tính toàn vẹn tuyệt đối, chống can thiệp hay xóa bỏ trái phép.</a:t>
                      </a:r>
                      <a:endParaRPr lang="vi-VN" sz="1000" b="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7" name="Table 6"/>
          <p:cNvGraphicFramePr>
            <a:graphicFrameLocks noGrp="1"/>
          </p:cNvGraphicFramePr>
          <p:nvPr/>
        </p:nvGraphicFramePr>
        <p:xfrm>
          <a:off x="4027952" y="2360409"/>
          <a:ext cx="2789416" cy="2289637"/>
        </p:xfrm>
        <a:graphic>
          <a:graphicData uri="http://schemas.openxmlformats.org/drawingml/2006/table">
            <a:tbl>
              <a:tblPr firstRow="1" bandRow="1">
                <a:tableStyleId>{5C22544A-7EE6-4342-B048-85BDC9FD1C3A}</a:tableStyleId>
              </a:tblPr>
              <a:tblGrid>
                <a:gridCol w="2789416">
                  <a:extLst>
                    <a:ext uri="{9D8B030D-6E8A-4147-A177-3AD203B41FA5}">
                      <a16:colId xmlns:a16="http://schemas.microsoft.com/office/drawing/2014/main" val="20000"/>
                    </a:ext>
                  </a:extLst>
                </a:gridCol>
              </a:tblGrid>
              <a:tr h="252445">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a:solidFill>
                            <a:schemeClr val="bg1"/>
                          </a:solidFill>
                          <a:latin typeface="Arial" panose="020B0604020202020204" pitchFamily="34" charset="0"/>
                          <a:cs typeface="Arial" panose="020B0604020202020204" pitchFamily="34" charset="0"/>
                        </a:rPr>
                        <a:t>Kiến trúc hệ thống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10000"/>
                  </a:ext>
                </a:extLst>
              </a:tr>
              <a:tr h="2037192">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pSp>
        <p:nvGrpSpPr>
          <p:cNvPr id="70" name="Group 69"/>
          <p:cNvGrpSpPr/>
          <p:nvPr/>
        </p:nvGrpSpPr>
        <p:grpSpPr>
          <a:xfrm>
            <a:off x="-40633" y="-39866"/>
            <a:ext cx="6898633" cy="2369377"/>
            <a:chOff x="-40633" y="-40063"/>
            <a:chExt cx="6898633" cy="2369377"/>
          </a:xfrm>
        </p:grpSpPr>
        <p:grpSp>
          <p:nvGrpSpPr>
            <p:cNvPr id="27" name="Group 26"/>
            <p:cNvGrpSpPr/>
            <p:nvPr/>
          </p:nvGrpSpPr>
          <p:grpSpPr>
            <a:xfrm>
              <a:off x="0" y="-40063"/>
              <a:ext cx="6858000" cy="1149907"/>
              <a:chOff x="0" y="-40063"/>
              <a:chExt cx="6858000" cy="1149907"/>
            </a:xfrm>
          </p:grpSpPr>
          <p:pic>
            <p:nvPicPr>
              <p:cNvPr id="39" name="Picture 38"/>
              <p:cNvPicPr>
                <a:picLocks noChangeAspect="1"/>
              </p:cNvPicPr>
              <p:nvPr/>
            </p:nvPicPr>
            <p:blipFill>
              <a:blip r:embed="rId3"/>
              <a:stretch>
                <a:fillRect/>
              </a:stretch>
            </p:blipFill>
            <p:spPr>
              <a:xfrm>
                <a:off x="0" y="-1275"/>
                <a:ext cx="6858000" cy="1111119"/>
              </a:xfrm>
              <a:prstGeom prst="rect">
                <a:avLst/>
              </a:prstGeom>
            </p:spPr>
          </p:pic>
          <p:sp>
            <p:nvSpPr>
              <p:cNvPr id="40" name="TextBox 39"/>
              <p:cNvSpPr txBox="1"/>
              <p:nvPr/>
            </p:nvSpPr>
            <p:spPr>
              <a:xfrm>
                <a:off x="2370087" y="-40063"/>
                <a:ext cx="2129108" cy="400110"/>
              </a:xfrm>
              <a:prstGeom prst="rect">
                <a:avLst/>
              </a:prstGeom>
              <a:noFill/>
            </p:spPr>
            <p:txBody>
              <a:bodyPr wrap="none" rtlCol="0">
                <a:spAutoFit/>
              </a:bodyPr>
              <a:lstStyle/>
              <a:p>
                <a:pPr algn="ctr"/>
                <a:r>
                  <a:rPr lang="en-US" sz="1000" b="1">
                    <a:solidFill>
                      <a:schemeClr val="bg1"/>
                    </a:solidFill>
                    <a:latin typeface="Arial Hebrew Scholar" pitchFamily="2" charset="-79"/>
                    <a:cs typeface="Arial Hebrew Scholar" pitchFamily="2" charset="-79"/>
                  </a:rPr>
                  <a:t>TRƯỜNG ĐẠI HỌC ĐẠI NAM</a:t>
                </a:r>
              </a:p>
              <a:p>
                <a:pPr algn="ctr"/>
                <a:r>
                  <a:rPr lang="en-US" sz="1000" b="1">
                    <a:solidFill>
                      <a:schemeClr val="bg1"/>
                    </a:solidFill>
                    <a:latin typeface="Arial Hebrew Scholar" pitchFamily="2" charset="-79"/>
                    <a:cs typeface="Arial Hebrew Scholar" pitchFamily="2" charset="-79"/>
                  </a:rPr>
                  <a:t>KHOA CÔNG NGHỆ THÔNG TIN</a:t>
                </a:r>
              </a:p>
            </p:txBody>
          </p:sp>
        </p:grpSp>
        <p:grpSp>
          <p:nvGrpSpPr>
            <p:cNvPr id="65" name="Group 64"/>
            <p:cNvGrpSpPr/>
            <p:nvPr/>
          </p:nvGrpSpPr>
          <p:grpSpPr>
            <a:xfrm>
              <a:off x="-40633" y="1132782"/>
              <a:ext cx="6858000" cy="1196532"/>
              <a:chOff x="-40633" y="1132782"/>
              <a:chExt cx="6858000" cy="1196532"/>
            </a:xfrm>
          </p:grpSpPr>
          <p:sp>
            <p:nvSpPr>
              <p:cNvPr id="5" name="Title 1"/>
              <p:cNvSpPr txBox="1"/>
              <p:nvPr/>
            </p:nvSpPr>
            <p:spPr>
              <a:xfrm>
                <a:off x="993648" y="1132782"/>
                <a:ext cx="4569286" cy="329891"/>
              </a:xfrm>
              <a:prstGeom prst="rect">
                <a:avLst/>
              </a:prstGeom>
            </p:spPr>
            <p:txBody>
              <a:bodyPr vert="horz" lIns="20299" tIns="10150" rIns="20299" bIns="10150" rtlCol="0" anchor="ctr">
                <a:noAutofit/>
              </a:bodyPr>
              <a:lstStyle>
                <a:lvl1pPr algn="ctr" defTabSz="2880360" rtl="0" eaLnBrk="1" latinLnBrk="0" hangingPunct="1">
                  <a:lnSpc>
                    <a:spcPct val="90000"/>
                  </a:lnSpc>
                  <a:spcBef>
                    <a:spcPct val="0"/>
                  </a:spcBef>
                  <a:buNone/>
                  <a:defRPr sz="18900" kern="1200">
                    <a:solidFill>
                      <a:schemeClr val="tx1"/>
                    </a:solidFill>
                    <a:latin typeface="+mj-lt"/>
                    <a:ea typeface="+mj-ea"/>
                    <a:cs typeface="+mj-cs"/>
                  </a:defRPr>
                </a:lvl1pPr>
              </a:lstStyle>
              <a:p>
                <a:r>
                  <a:rPr lang="en-US" sz="1300" b="1" dirty="0">
                    <a:solidFill>
                      <a:schemeClr val="accent2"/>
                    </a:solidFill>
                    <a:latin typeface="Times New Roman" panose="02020603050405020304" pitchFamily="18" charset="0"/>
                    <a:cs typeface="Times New Roman" panose="02020603050405020304" pitchFamily="18" charset="0"/>
                  </a:rPr>
                  <a:t>ERP:</a:t>
                </a:r>
                <a:r>
                  <a:rPr lang="vi-VN" sz="1300" b="1" dirty="0">
                    <a:solidFill>
                      <a:schemeClr val="accent2"/>
                    </a:solidFill>
                    <a:latin typeface="Times New Roman" panose="02020603050405020304" pitchFamily="18" charset="0"/>
                    <a:cs typeface="Times New Roman" panose="02020603050405020304" pitchFamily="18" charset="0"/>
                  </a:rPr>
                  <a:t> </a:t>
                </a:r>
                <a:r>
                  <a:rPr lang="vi-VN" sz="1300" dirty="0">
                    <a:latin typeface="Times New Roman" panose="02020603050405020304" pitchFamily="18" charset="0"/>
                    <a:cs typeface="Times New Roman" panose="02020603050405020304" pitchFamily="18" charset="0"/>
                  </a:rPr>
                  <a:t>Quản lý hồ sơ bệnh án </a:t>
                </a:r>
                <a:endParaRPr lang="en-US" sz="1300" dirty="0">
                  <a:latin typeface="Arial Hebrew Scholar" pitchFamily="2" charset="-79"/>
                  <a:cs typeface="Arial Hebrew Scholar" pitchFamily="2" charset="-79"/>
                </a:endParaRPr>
              </a:p>
            </p:txBody>
          </p:sp>
          <p:sp>
            <p:nvSpPr>
              <p:cNvPr id="6" name="Rectangle 5"/>
              <p:cNvSpPr/>
              <p:nvPr/>
            </p:nvSpPr>
            <p:spPr>
              <a:xfrm>
                <a:off x="-40633" y="1441319"/>
                <a:ext cx="6858000" cy="145598"/>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vi-VN" sz="800" b="1" dirty="0">
                    <a:latin typeface="+mj-lt"/>
                  </a:rPr>
                  <a:t>Hồ Quang Huy </a:t>
                </a:r>
                <a:endParaRPr lang="en-US" sz="800" b="1" dirty="0">
                  <a:latin typeface="+mj-lt"/>
                </a:endParaRPr>
              </a:p>
            </p:txBody>
          </p:sp>
          <p:pic>
            <p:nvPicPr>
              <p:cNvPr id="63" name="Picture 62"/>
              <p:cNvPicPr>
                <a:picLocks noChangeAspect="1"/>
              </p:cNvPicPr>
              <p:nvPr/>
            </p:nvPicPr>
            <p:blipFill>
              <a:blip r:embed="rId4"/>
              <a:stretch>
                <a:fillRect/>
              </a:stretch>
            </p:blipFill>
            <p:spPr>
              <a:xfrm>
                <a:off x="2620895" y="1591937"/>
                <a:ext cx="1616210" cy="737377"/>
              </a:xfrm>
              <a:prstGeom prst="rect">
                <a:avLst/>
              </a:prstGeom>
            </p:spPr>
          </p:pic>
        </p:grpSp>
      </p:grpSp>
      <p:graphicFrame>
        <p:nvGraphicFramePr>
          <p:cNvPr id="73" name="Table 72"/>
          <p:cNvGraphicFramePr>
            <a:graphicFrameLocks noGrp="1"/>
          </p:cNvGraphicFramePr>
          <p:nvPr>
            <p:extLst>
              <p:ext uri="{D42A27DB-BD31-4B8C-83A1-F6EECF244321}">
                <p14:modId xmlns:p14="http://schemas.microsoft.com/office/powerpoint/2010/main" val="1800779592"/>
              </p:ext>
            </p:extLst>
          </p:nvPr>
        </p:nvGraphicFramePr>
        <p:xfrm>
          <a:off x="4027952" y="4670365"/>
          <a:ext cx="2789415" cy="1926010"/>
        </p:xfrm>
        <a:graphic>
          <a:graphicData uri="http://schemas.openxmlformats.org/drawingml/2006/table">
            <a:tbl>
              <a:tblPr firstRow="1" bandRow="1">
                <a:tableStyleId>{5C22544A-7EE6-4342-B048-85BDC9FD1C3A}</a:tableStyleId>
              </a:tblPr>
              <a:tblGrid>
                <a:gridCol w="2789415">
                  <a:extLst>
                    <a:ext uri="{9D8B030D-6E8A-4147-A177-3AD203B41FA5}">
                      <a16:colId xmlns:a16="http://schemas.microsoft.com/office/drawing/2014/main" val="20000"/>
                    </a:ext>
                  </a:extLst>
                </a:gridCol>
              </a:tblGrid>
              <a:tr h="255726">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dirty="0">
                          <a:solidFill>
                            <a:schemeClr val="bg1"/>
                          </a:solidFill>
                          <a:latin typeface="Arial" panose="020B0604020202020204" pitchFamily="34" charset="0"/>
                          <a:cs typeface="Arial" panose="020B0604020202020204" pitchFamily="34" charset="0"/>
                        </a:rPr>
                        <a:t>Công </a:t>
                      </a:r>
                      <a:r>
                        <a:rPr lang="en-US" sz="1000" b="1" dirty="0" err="1">
                          <a:solidFill>
                            <a:schemeClr val="bg1"/>
                          </a:solidFill>
                          <a:latin typeface="Arial" panose="020B0604020202020204" pitchFamily="34" charset="0"/>
                          <a:cs typeface="Arial" panose="020B0604020202020204" pitchFamily="34" charset="0"/>
                        </a:rPr>
                        <a:t>nghệ</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sử</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dụng</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10000"/>
                  </a:ext>
                </a:extLst>
              </a:tr>
              <a:tr h="1670284">
                <a:tc>
                  <a:txBody>
                    <a:bodyPr/>
                    <a:lstStyle/>
                    <a:p>
                      <a:pPr algn="just"/>
                      <a:endParaRPr lang="vi-VN" sz="900" dirty="0">
                        <a:latin typeface="Arial" panose="020B0604020202020204" pitchFamily="34" charset="0"/>
                        <a:cs typeface="Arial Hebrew Scholar"/>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82" name="Table 81"/>
          <p:cNvGraphicFramePr>
            <a:graphicFrameLocks noGrp="1"/>
          </p:cNvGraphicFramePr>
          <p:nvPr>
            <p:extLst>
              <p:ext uri="{D42A27DB-BD31-4B8C-83A1-F6EECF244321}">
                <p14:modId xmlns:p14="http://schemas.microsoft.com/office/powerpoint/2010/main" val="3966030508"/>
              </p:ext>
            </p:extLst>
          </p:nvPr>
        </p:nvGraphicFramePr>
        <p:xfrm>
          <a:off x="71978" y="3747122"/>
          <a:ext cx="3890421" cy="6055182"/>
        </p:xfrm>
        <a:graphic>
          <a:graphicData uri="http://schemas.openxmlformats.org/drawingml/2006/table">
            <a:tbl>
              <a:tblPr firstRow="1" bandRow="1">
                <a:tableStyleId>{5C22544A-7EE6-4342-B048-85BDC9FD1C3A}</a:tableStyleId>
              </a:tblPr>
              <a:tblGrid>
                <a:gridCol w="3890421">
                  <a:extLst>
                    <a:ext uri="{9D8B030D-6E8A-4147-A177-3AD203B41FA5}">
                      <a16:colId xmlns:a16="http://schemas.microsoft.com/office/drawing/2014/main" val="20000"/>
                    </a:ext>
                  </a:extLst>
                </a:gridCol>
              </a:tblGrid>
              <a:tr h="122328">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dirty="0">
                          <a:solidFill>
                            <a:schemeClr val="bg1"/>
                          </a:solidFill>
                          <a:latin typeface="Arial" panose="020B0604020202020204" pitchFamily="34" charset="0"/>
                          <a:cs typeface="Arial" panose="020B0604020202020204" pitchFamily="34" charset="0"/>
                        </a:rPr>
                        <a:t>Giao </a:t>
                      </a:r>
                      <a:r>
                        <a:rPr lang="en-US" sz="1000" b="1" dirty="0" err="1">
                          <a:solidFill>
                            <a:schemeClr val="bg1"/>
                          </a:solidFill>
                          <a:latin typeface="Arial" panose="020B0604020202020204" pitchFamily="34" charset="0"/>
                          <a:cs typeface="Arial" panose="020B0604020202020204" pitchFamily="34" charset="0"/>
                        </a:rPr>
                        <a:t>diện</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ứng</a:t>
                      </a:r>
                      <a:r>
                        <a:rPr lang="en-US" sz="1000" b="1" dirty="0">
                          <a:solidFill>
                            <a:schemeClr val="bg1"/>
                          </a:solidFill>
                          <a:latin typeface="Arial" panose="020B0604020202020204" pitchFamily="34" charset="0"/>
                          <a:cs typeface="Arial" panose="020B0604020202020204" pitchFamily="34" charset="0"/>
                        </a:rPr>
                        <a:t> </a:t>
                      </a:r>
                      <a:r>
                        <a:rPr lang="en-US" sz="1000" b="1" dirty="0" err="1">
                          <a:solidFill>
                            <a:schemeClr val="bg1"/>
                          </a:solidFill>
                          <a:latin typeface="Arial" panose="020B0604020202020204" pitchFamily="34" charset="0"/>
                          <a:cs typeface="Arial" panose="020B0604020202020204" pitchFamily="34" charset="0"/>
                        </a:rPr>
                        <a:t>dụng</a:t>
                      </a: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3F99"/>
                    </a:solidFill>
                  </a:tcPr>
                </a:tc>
                <a:extLst>
                  <a:ext uri="{0D108BD9-81ED-4DB2-BD59-A6C34878D82A}">
                    <a16:rowId xmlns:a16="http://schemas.microsoft.com/office/drawing/2014/main" val="10000"/>
                  </a:ext>
                </a:extLst>
              </a:tr>
              <a:tr h="5811342">
                <a:tc>
                  <a:txBody>
                    <a:bodyPr/>
                    <a:lstStyle/>
                    <a:p>
                      <a:pPr marL="0" marR="0" lvl="0" indent="0" algn="ctr" defTabSz="685800" rtl="0" eaLnBrk="1" fontAlgn="auto" latinLnBrk="0" hangingPunct="1">
                        <a:lnSpc>
                          <a:spcPct val="100000"/>
                        </a:lnSpc>
                        <a:spcBef>
                          <a:spcPts val="0"/>
                        </a:spcBef>
                        <a:spcAft>
                          <a:spcPts val="0"/>
                        </a:spcAft>
                        <a:buClrTx/>
                        <a:buSzTx/>
                        <a:buFontTx/>
                        <a:buNone/>
                        <a:defRPr/>
                      </a:pPr>
                      <a:endParaRPr lang="en-US" sz="1000" b="1" dirty="0">
                        <a:solidFill>
                          <a:schemeClr val="bg1"/>
                        </a:solidFill>
                        <a:latin typeface="Arial" panose="020B0604020202020204" pitchFamily="34" charset="0"/>
                        <a:cs typeface="Arial" panose="020B0604020202020204" pitchFamily="3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89" name="Table 88"/>
          <p:cNvGraphicFramePr>
            <a:graphicFrameLocks noGrp="1"/>
          </p:cNvGraphicFramePr>
          <p:nvPr/>
        </p:nvGraphicFramePr>
        <p:xfrm>
          <a:off x="4027951" y="6619313"/>
          <a:ext cx="2789417" cy="1426181"/>
        </p:xfrm>
        <a:graphic>
          <a:graphicData uri="http://schemas.openxmlformats.org/drawingml/2006/table">
            <a:tbl>
              <a:tblPr firstRow="1" bandRow="1">
                <a:tableStyleId>{5C22544A-7EE6-4342-B048-85BDC9FD1C3A}</a:tableStyleId>
              </a:tblPr>
              <a:tblGrid>
                <a:gridCol w="2789417">
                  <a:extLst>
                    <a:ext uri="{9D8B030D-6E8A-4147-A177-3AD203B41FA5}">
                      <a16:colId xmlns:a16="http://schemas.microsoft.com/office/drawing/2014/main" val="20000"/>
                    </a:ext>
                  </a:extLst>
                </a:gridCol>
              </a:tblGrid>
              <a:tr h="146514">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dirty="0">
                          <a:solidFill>
                            <a:schemeClr val="bg1"/>
                          </a:solidFill>
                          <a:latin typeface="Arial" panose="020B0604020202020204" pitchFamily="34" charset="0"/>
                          <a:cs typeface="Arial" panose="020B0604020202020204" pitchFamily="34" charset="0"/>
                        </a:rPr>
                        <a:t>Platform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10000"/>
                  </a:ext>
                </a:extLst>
              </a:tr>
              <a:tr h="1182341">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90" name="Table 89"/>
          <p:cNvGraphicFramePr>
            <a:graphicFrameLocks noGrp="1"/>
          </p:cNvGraphicFramePr>
          <p:nvPr>
            <p:extLst>
              <p:ext uri="{D42A27DB-BD31-4B8C-83A1-F6EECF244321}">
                <p14:modId xmlns:p14="http://schemas.microsoft.com/office/powerpoint/2010/main" val="1092843182"/>
              </p:ext>
            </p:extLst>
          </p:nvPr>
        </p:nvGraphicFramePr>
        <p:xfrm>
          <a:off x="4027950" y="8068432"/>
          <a:ext cx="2789417" cy="1426181"/>
        </p:xfrm>
        <a:graphic>
          <a:graphicData uri="http://schemas.openxmlformats.org/drawingml/2006/table">
            <a:tbl>
              <a:tblPr firstRow="1" bandRow="1">
                <a:tableStyleId>{5C22544A-7EE6-4342-B048-85BDC9FD1C3A}</a:tableStyleId>
              </a:tblPr>
              <a:tblGrid>
                <a:gridCol w="2789417">
                  <a:extLst>
                    <a:ext uri="{9D8B030D-6E8A-4147-A177-3AD203B41FA5}">
                      <a16:colId xmlns:a16="http://schemas.microsoft.com/office/drawing/2014/main" val="20000"/>
                    </a:ext>
                  </a:extLst>
                </a:gridCol>
              </a:tblGrid>
              <a:tr h="146514">
                <a:tc>
                  <a:txBody>
                    <a:bodyPr/>
                    <a:lstStyle/>
                    <a:p>
                      <a:pPr marL="0" marR="0" lvl="0" indent="0" algn="ctr" defTabSz="685800" rtl="0" eaLnBrk="1" fontAlgn="auto" latinLnBrk="0" hangingPunct="1">
                        <a:lnSpc>
                          <a:spcPct val="100000"/>
                        </a:lnSpc>
                        <a:spcBef>
                          <a:spcPts val="0"/>
                        </a:spcBef>
                        <a:spcAft>
                          <a:spcPts val="0"/>
                        </a:spcAft>
                        <a:buClrTx/>
                        <a:buSzTx/>
                        <a:buFontTx/>
                        <a:buNone/>
                        <a:defRPr/>
                      </a:pPr>
                      <a:r>
                        <a:rPr lang="en-US" sz="1000" b="1">
                          <a:solidFill>
                            <a:schemeClr val="bg1"/>
                          </a:solidFill>
                          <a:latin typeface="Arial" panose="020B0604020202020204" pitchFamily="34" charset="0"/>
                          <a:cs typeface="Arial" panose="020B0604020202020204" pitchFamily="34" charset="0"/>
                        </a:rPr>
                        <a:t>Hướng phát triển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233F99"/>
                    </a:solidFill>
                  </a:tcPr>
                </a:tc>
                <a:extLst>
                  <a:ext uri="{0D108BD9-81ED-4DB2-BD59-A6C34878D82A}">
                    <a16:rowId xmlns:a16="http://schemas.microsoft.com/office/drawing/2014/main" val="10000"/>
                  </a:ext>
                </a:extLst>
              </a:tr>
              <a:tr h="1182341">
                <a:tc>
                  <a:txBody>
                    <a:bodyPr/>
                    <a:lstStyle/>
                    <a:p>
                      <a:r>
                        <a:rPr lang="vi-VN" sz="1000" b="0" i="0" u="none" strike="noStrike" kern="1200" dirty="0">
                          <a:solidFill>
                            <a:schemeClr val="dk1"/>
                          </a:solidFill>
                          <a:effectLst/>
                          <a:latin typeface="+mn-lt"/>
                          <a:ea typeface="+mn-ea"/>
                          <a:cs typeface="+mn-cs"/>
                        </a:rPr>
                        <a:t>Triển khai trên Blockchain thực tế.</a:t>
                      </a:r>
                    </a:p>
                    <a:p>
                      <a:r>
                        <a:rPr lang="vi-VN" sz="1000" b="0" i="0" u="none" strike="noStrike" kern="1200" dirty="0">
                          <a:solidFill>
                            <a:schemeClr val="dk1"/>
                          </a:solidFill>
                          <a:effectLst/>
                          <a:latin typeface="+mn-lt"/>
                          <a:ea typeface="+mn-ea"/>
                          <a:cs typeface="+mn-cs"/>
                        </a:rPr>
                        <a:t>Tích hợp AI hỗ trợ chẩn đoán.</a:t>
                      </a:r>
                    </a:p>
                    <a:p>
                      <a:r>
                        <a:rPr lang="vi-VN" sz="1000" b="0" i="0" u="none" strike="noStrike" kern="1200" dirty="0">
                          <a:solidFill>
                            <a:schemeClr val="dk1"/>
                          </a:solidFill>
                          <a:effectLst/>
                          <a:latin typeface="+mn-lt"/>
                          <a:ea typeface="+mn-ea"/>
                          <a:cs typeface="+mn-cs"/>
                        </a:rPr>
                        <a:t>Phát triển ứng dụng Mobile.</a:t>
                      </a:r>
                    </a:p>
                    <a:p>
                      <a:r>
                        <a:rPr lang="vi-VN" sz="1000" b="0" i="0" u="none" strike="noStrike" kern="1200" dirty="0">
                          <a:solidFill>
                            <a:schemeClr val="dk1"/>
                          </a:solidFill>
                          <a:effectLst/>
                          <a:latin typeface="+mn-lt"/>
                          <a:ea typeface="+mn-ea"/>
                          <a:cs typeface="+mn-cs"/>
                        </a:rPr>
                        <a:t>Liên thông dữ liệu giữa các bệnh viện.</a:t>
                      </a:r>
                    </a:p>
                    <a:p>
                      <a:r>
                        <a:rPr lang="vi-VN" sz="1000" b="0" i="0" u="none" strike="noStrike" kern="1200" dirty="0">
                          <a:solidFill>
                            <a:schemeClr val="dk1"/>
                          </a:solidFill>
                          <a:effectLst/>
                          <a:latin typeface="+mn-lt"/>
                          <a:ea typeface="+mn-ea"/>
                          <a:cs typeface="+mn-cs"/>
                        </a:rPr>
                        <a:t>Tăng cường bảo mật và quyền riêng tư.</a:t>
                      </a:r>
                    </a:p>
                    <a:p>
                      <a:r>
                        <a:rPr lang="vi-VN" sz="1000" b="0" i="0" u="none" strike="noStrike" kern="1200" dirty="0">
                          <a:solidFill>
                            <a:schemeClr val="dk1"/>
                          </a:solidFill>
                          <a:effectLst/>
                          <a:latin typeface="+mn-lt"/>
                          <a:ea typeface="+mn-ea"/>
                          <a:cs typeface="+mn-cs"/>
                        </a:rPr>
                        <a:t>Tối ưu hiệu năng và chi phí hệ thống.</a:t>
                      </a:r>
                    </a:p>
                    <a:p>
                      <a:pPr marL="171450" lvl="0" indent="-171450">
                        <a:buFont typeface="Arial" panose="020B0604020202020204" pitchFamily="34" charset="0"/>
                        <a:buChar char="•"/>
                      </a:pPr>
                      <a:endParaRPr lang="en-US" sz="1000" kern="1200" dirty="0">
                        <a:solidFill>
                          <a:schemeClr val="dk1"/>
                        </a:solidFill>
                        <a:effectLst/>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92" name="TextBox 91"/>
          <p:cNvSpPr txBox="1"/>
          <p:nvPr/>
        </p:nvSpPr>
        <p:spPr>
          <a:xfrm>
            <a:off x="3943438" y="9586860"/>
            <a:ext cx="2958439" cy="215444"/>
          </a:xfrm>
          <a:prstGeom prst="rect">
            <a:avLst/>
          </a:prstGeom>
          <a:noFill/>
        </p:spPr>
        <p:txBody>
          <a:bodyPr wrap="square">
            <a:spAutoFit/>
          </a:bodyPr>
          <a:lstStyle/>
          <a:p>
            <a:pPr algn="ctr"/>
            <a:r>
              <a:rPr lang="en-US" sz="750" dirty="0">
                <a:latin typeface="Arial" panose="020B0604020202020204" pitchFamily="34" charset="0"/>
                <a:cs typeface="Arial Hebrew Scholar"/>
              </a:rPr>
              <a:t>©</a:t>
            </a:r>
            <a:r>
              <a:rPr lang="en-US" sz="750" dirty="0" err="1">
                <a:latin typeface="Arial" panose="020B0604020202020204" pitchFamily="34" charset="0"/>
                <a:cs typeface="Arial Hebrew Scholar"/>
              </a:rPr>
              <a:t>AIoTLab</a:t>
            </a:r>
            <a:r>
              <a:rPr lang="en-US" sz="750" dirty="0">
                <a:latin typeface="Arial" panose="020B0604020202020204" pitchFamily="34" charset="0"/>
                <a:cs typeface="Arial Hebrew Scholar"/>
              </a:rPr>
              <a:t>, Faculty of Information Technology, </a:t>
            </a:r>
            <a:r>
              <a:rPr lang="en-US" sz="750" dirty="0" err="1">
                <a:latin typeface="Arial" panose="020B0604020202020204" pitchFamily="34" charset="0"/>
                <a:cs typeface="Arial Hebrew Scholar"/>
              </a:rPr>
              <a:t>DaiNam</a:t>
            </a:r>
            <a:r>
              <a:rPr lang="en-US" sz="750" dirty="0">
                <a:latin typeface="Arial" panose="020B0604020202020204" pitchFamily="34" charset="0"/>
                <a:cs typeface="Arial Hebrew Scholar"/>
              </a:rPr>
              <a:t> University</a:t>
            </a:r>
          </a:p>
        </p:txBody>
      </p:sp>
      <p:grpSp>
        <p:nvGrpSpPr>
          <p:cNvPr id="1024" name="Group 1023"/>
          <p:cNvGrpSpPr/>
          <p:nvPr/>
        </p:nvGrpSpPr>
        <p:grpSpPr>
          <a:xfrm>
            <a:off x="4535229" y="7599157"/>
            <a:ext cx="683266" cy="362763"/>
            <a:chOff x="6071533" y="2197843"/>
            <a:chExt cx="683266" cy="367061"/>
          </a:xfrm>
        </p:grpSpPr>
        <p:sp>
          <p:nvSpPr>
            <p:cNvPr id="1025" name="TextBox 1024"/>
            <p:cNvSpPr txBox="1"/>
            <p:nvPr/>
          </p:nvSpPr>
          <p:spPr>
            <a:xfrm>
              <a:off x="6105590" y="2222338"/>
              <a:ext cx="649209" cy="342566"/>
            </a:xfrm>
            <a:prstGeom prst="rect">
              <a:avLst/>
            </a:prstGeom>
            <a:noFill/>
          </p:spPr>
          <p:txBody>
            <a:bodyPr wrap="square">
              <a:spAutoFit/>
            </a:bodyPr>
            <a:lstStyle/>
            <a:p>
              <a:pPr algn="ctr"/>
              <a:r>
                <a:rPr lang="en-US" sz="800" b="1">
                  <a:latin typeface="Arial Hebrew Scholar" pitchFamily="2" charset="-79"/>
                  <a:cs typeface="Arial Hebrew Scholar" pitchFamily="2" charset="-79"/>
                </a:rPr>
                <a:t>Github Platform</a:t>
              </a:r>
              <a:endParaRPr lang="en-US" sz="800" b="1" dirty="0">
                <a:latin typeface="Arial Hebrew Scholar" pitchFamily="2" charset="-79"/>
                <a:cs typeface="Arial Hebrew Scholar" pitchFamily="2" charset="-79"/>
              </a:endParaRPr>
            </a:p>
          </p:txBody>
        </p:sp>
        <p:pic>
          <p:nvPicPr>
            <p:cNvPr id="1026" name="Picture 4" descr="Github Logo - Free social media icon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35" name="Group 1034"/>
          <p:cNvGrpSpPr/>
          <p:nvPr/>
        </p:nvGrpSpPr>
        <p:grpSpPr>
          <a:xfrm>
            <a:off x="5679061" y="6914401"/>
            <a:ext cx="725093" cy="1027194"/>
            <a:chOff x="5729861" y="6934721"/>
            <a:chExt cx="725093" cy="1027194"/>
          </a:xfrm>
        </p:grpSpPr>
        <p:pic>
          <p:nvPicPr>
            <p:cNvPr id="1029" name="Picture 1028"/>
            <p:cNvPicPr>
              <a:picLocks noChangeAspect="1"/>
            </p:cNvPicPr>
            <p:nvPr/>
          </p:nvPicPr>
          <p:blipFill>
            <a:blip r:embed="rId5"/>
            <a:stretch>
              <a:fillRect/>
            </a:stretch>
          </p:blipFill>
          <p:spPr>
            <a:xfrm>
              <a:off x="5729861" y="6934721"/>
              <a:ext cx="658860" cy="648000"/>
            </a:xfrm>
            <a:prstGeom prst="rect">
              <a:avLst/>
            </a:prstGeom>
          </p:spPr>
        </p:pic>
        <p:grpSp>
          <p:nvGrpSpPr>
            <p:cNvPr id="1031" name="Group 1030"/>
            <p:cNvGrpSpPr/>
            <p:nvPr/>
          </p:nvGrpSpPr>
          <p:grpSpPr>
            <a:xfrm>
              <a:off x="5771688" y="7623361"/>
              <a:ext cx="683266" cy="338554"/>
              <a:chOff x="6071533" y="2191497"/>
              <a:chExt cx="683266" cy="342566"/>
            </a:xfrm>
          </p:grpSpPr>
          <p:sp>
            <p:nvSpPr>
              <p:cNvPr id="1032" name="TextBox 1031"/>
              <p:cNvSpPr txBox="1"/>
              <p:nvPr/>
            </p:nvSpPr>
            <p:spPr>
              <a:xfrm>
                <a:off x="6105590" y="2191497"/>
                <a:ext cx="649209" cy="342566"/>
              </a:xfrm>
              <a:prstGeom prst="rect">
                <a:avLst/>
              </a:prstGeom>
              <a:noFill/>
            </p:spPr>
            <p:txBody>
              <a:bodyPr wrap="square">
                <a:spAutoFit/>
              </a:bodyPr>
              <a:lstStyle/>
              <a:p>
                <a:pPr algn="ctr"/>
                <a:r>
                  <a:rPr lang="en-US" sz="800" b="1">
                    <a:latin typeface="Arial Hebrew Scholar" pitchFamily="2" charset="-79"/>
                    <a:cs typeface="Arial Hebrew Scholar" pitchFamily="2" charset="-79"/>
                  </a:rPr>
                  <a:t>Github FIT-DNU</a:t>
                </a:r>
                <a:endParaRPr lang="en-US" sz="800" b="1" dirty="0">
                  <a:latin typeface="Arial Hebrew Scholar" pitchFamily="2" charset="-79"/>
                  <a:cs typeface="Arial Hebrew Scholar" pitchFamily="2" charset="-79"/>
                </a:endParaRPr>
              </a:p>
            </p:txBody>
          </p:sp>
          <p:pic>
            <p:nvPicPr>
              <p:cNvPr id="1033" name="Picture 4" descr="Github Logo - Free social media icons"/>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rot="10800000" flipV="1">
                <a:off x="6071533" y="2197843"/>
                <a:ext cx="166522" cy="166522"/>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9" name="Picture 8"/>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141373" y="4993124"/>
            <a:ext cx="1023928" cy="615273"/>
          </a:xfrm>
          <a:prstGeom prst="rect">
            <a:avLst/>
          </a:prstGeom>
        </p:spPr>
      </p:pic>
      <p:pic>
        <p:nvPicPr>
          <p:cNvPr id="10" name="Picture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159867" y="5623340"/>
            <a:ext cx="805994" cy="922099"/>
          </a:xfrm>
          <a:prstGeom prst="rect">
            <a:avLst/>
          </a:prstGeom>
        </p:spPr>
      </p:pic>
      <p:pic>
        <p:nvPicPr>
          <p:cNvPr id="11" name="Picture 1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157947" y="5020173"/>
            <a:ext cx="1154810" cy="577405"/>
          </a:xfrm>
          <a:prstGeom prst="rect">
            <a:avLst/>
          </a:prstGeom>
        </p:spPr>
      </p:pic>
      <p:pic>
        <p:nvPicPr>
          <p:cNvPr id="22" name="Picture 21">
            <a:extLst>
              <a:ext uri="{FF2B5EF4-FFF2-40B4-BE49-F238E27FC236}">
                <a16:creationId xmlns:a16="http://schemas.microsoft.com/office/drawing/2014/main" id="{32E3678F-ED6B-B5BE-8EF8-353CBA9AD3C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157947" y="5684995"/>
            <a:ext cx="1265921" cy="708916"/>
          </a:xfrm>
          <a:prstGeom prst="rect">
            <a:avLst/>
          </a:prstGeom>
        </p:spPr>
      </p:pic>
      <p:pic>
        <p:nvPicPr>
          <p:cNvPr id="104" name="Picture 103" descr="A screenshot of a chat&#10;&#10;Description automatically generated">
            <a:extLst>
              <a:ext uri="{FF2B5EF4-FFF2-40B4-BE49-F238E27FC236}">
                <a16:creationId xmlns:a16="http://schemas.microsoft.com/office/drawing/2014/main" id="{EB67E80D-E6DF-038B-B391-38B3CE3F02E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1978" y="3989781"/>
            <a:ext cx="3871460" cy="3634432"/>
          </a:xfrm>
          <a:prstGeom prst="rect">
            <a:avLst/>
          </a:prstGeom>
        </p:spPr>
      </p:pic>
      <p:pic>
        <p:nvPicPr>
          <p:cNvPr id="106" name="Picture 105" descr="A screenshot of a phone&#10;&#10;Description automatically generated">
            <a:extLst>
              <a:ext uri="{FF2B5EF4-FFF2-40B4-BE49-F238E27FC236}">
                <a16:creationId xmlns:a16="http://schemas.microsoft.com/office/drawing/2014/main" id="{8D063B60-C060-4591-AE67-2EAFFE7D8C69}"/>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523205" y="7623365"/>
            <a:ext cx="878303" cy="2160856"/>
          </a:xfrm>
          <a:prstGeom prst="rect">
            <a:avLst/>
          </a:prstGeom>
        </p:spPr>
      </p:pic>
      <p:pic>
        <p:nvPicPr>
          <p:cNvPr id="108" name="Picture 107" descr="A poster of a blockchain&#10;&#10;Description automatically generated">
            <a:extLst>
              <a:ext uri="{FF2B5EF4-FFF2-40B4-BE49-F238E27FC236}">
                <a16:creationId xmlns:a16="http://schemas.microsoft.com/office/drawing/2014/main" id="{EECF1FC4-3FAD-F4DB-9398-5485A95ABB91}"/>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028989" y="2591166"/>
            <a:ext cx="2788378" cy="2056261"/>
          </a:xfrm>
          <a:prstGeom prst="rect">
            <a:avLst/>
          </a:prstGeom>
        </p:spPr>
      </p:pic>
      <p:pic>
        <p:nvPicPr>
          <p:cNvPr id="110" name="Picture 109" descr="A qr code on a white background&#10;&#10;Description automatically generated">
            <a:extLst>
              <a:ext uri="{FF2B5EF4-FFF2-40B4-BE49-F238E27FC236}">
                <a16:creationId xmlns:a16="http://schemas.microsoft.com/office/drawing/2014/main" id="{481F5CA0-E1C0-F166-5F5F-FC37817F6070}"/>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984171" y="1330943"/>
            <a:ext cx="657172" cy="657172"/>
          </a:xfrm>
          <a:prstGeom prst="rect">
            <a:avLst/>
          </a:prstGeom>
        </p:spPr>
      </p:pic>
      <p:pic>
        <p:nvPicPr>
          <p:cNvPr id="112" name="Picture 111" descr="A qr code on a white background&#10;&#10;Description automatically generated">
            <a:extLst>
              <a:ext uri="{FF2B5EF4-FFF2-40B4-BE49-F238E27FC236}">
                <a16:creationId xmlns:a16="http://schemas.microsoft.com/office/drawing/2014/main" id="{D52C549D-1F52-9974-1A4B-0444865A00D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4540502" y="6898225"/>
            <a:ext cx="677994" cy="67799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151</TotalTime>
  <Words>193</Words>
  <Application>Microsoft Macintosh PowerPoint</Application>
  <PresentationFormat>A4 Paper (210x297 mm)</PresentationFormat>
  <Paragraphs>21</Paragraphs>
  <Slides>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Arial Hebrew Scholar</vt:lpstr>
      <vt:lpstr>Calibri</vt:lpstr>
      <vt:lpstr>Calibri Light</vt:lpstr>
      <vt:lpstr>Times New Roman</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Thái Khánh Nguyễn</dc:creator>
  <cp:lastModifiedBy>huy huy</cp:lastModifiedBy>
  <cp:revision>110</cp:revision>
  <dcterms:created xsi:type="dcterms:W3CDTF">2023-07-02T07:57:00Z</dcterms:created>
  <dcterms:modified xsi:type="dcterms:W3CDTF">2026-06-04T08:10:09Z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B91172CD5B7040CBA2FB15A1BC72CE71_13</vt:lpwstr>
  </property>
  <property fmtid="{D5CDD505-2E9C-101B-9397-08002B2CF9AE}" pid="3" name="KSOProductBuildVer">
    <vt:lpwstr>1033-12.1.0.25180</vt:lpwstr>
  </property>
</Properties>
</file>